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Industry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A62-484F-9319-B708BE71A523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A62-484F-9319-B708BE71A523}"/>
              </c:ext>
            </c:extLst>
          </c:dPt>
          <c:dPt>
            <c:idx val="2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A62-484F-9319-B708BE71A52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7A62-484F-9319-B708BE71A523}"/>
              </c:ext>
            </c:extLst>
          </c:dPt>
          <c:dPt>
            <c:idx val="4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A62-484F-9319-B708BE71A52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Finance</c:v>
                </c:pt>
                <c:pt idx="1">
                  <c:v>Technology</c:v>
                </c:pt>
                <c:pt idx="2">
                  <c:v>Retail</c:v>
                </c:pt>
                <c:pt idx="3">
                  <c:v>Manufacturing</c:v>
                </c:pt>
                <c:pt idx="4">
                  <c:v>Healthcare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3000</c:v>
                </c:pt>
                <c:pt idx="1">
                  <c:v>3000</c:v>
                </c:pt>
                <c:pt idx="2">
                  <c:v>3000</c:v>
                </c:pt>
                <c:pt idx="3">
                  <c:v>3000</c:v>
                </c:pt>
                <c:pt idx="4">
                  <c:v>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A62-484F-9319-B708BE71A5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Region Split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Companies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B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CE7-460B-AA36-93EC986BA482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CE7-460B-AA36-93EC986BA482}"/>
              </c:ext>
            </c:extLst>
          </c:dPt>
          <c:dPt>
            <c:idx val="2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CE7-460B-AA36-93EC986BA48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CE7-460B-AA36-93EC986BA48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CE7-460B-AA36-93EC986BA48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CE7-460B-AA36-93EC986BA48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North America</c:v>
                </c:pt>
                <c:pt idx="1">
                  <c:v>Asia</c:v>
                </c:pt>
                <c:pt idx="2">
                  <c:v>Europe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7500</c:v>
                </c:pt>
                <c:pt idx="1">
                  <c:v>3750</c:v>
                </c:pt>
                <c:pt idx="2">
                  <c:v>3750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CE7-460B-AA36-93EC986BA4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Country Split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India</c:v>
                </c:pt>
                <c:pt idx="1">
                  <c:v>USA</c:v>
                </c:pt>
                <c:pt idx="2">
                  <c:v>Germany</c:v>
                </c:pt>
                <c:pt idx="3">
                  <c:v>Canada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3750</c:v>
                </c:pt>
                <c:pt idx="1">
                  <c:v>3750</c:v>
                </c:pt>
                <c:pt idx="2">
                  <c:v>3750</c:v>
                </c:pt>
                <c:pt idx="3">
                  <c:v>3750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50-4AE8-A270-A7B7CD1890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Pearson Correlation — Key Pairs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Pearson r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Emp × Revenue</c:v>
                </c:pt>
                <c:pt idx="1">
                  <c:v>Customer × Revenue</c:v>
                </c:pt>
                <c:pt idx="2">
                  <c:v>Rating × Margin</c:v>
                </c:pt>
                <c:pt idx="3">
                  <c:v>Year × Revenue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-2E-3</c:v>
                </c:pt>
                <c:pt idx="1">
                  <c:v>-1.2E-2</c:v>
                </c:pt>
                <c:pt idx="2">
                  <c:v>-6.0000000000000001E-3</c:v>
                </c:pt>
                <c:pt idx="3">
                  <c:v>2.1000000000000001E-2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41-4F5F-A48E-AB9ACE4865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05"/>
          <c:min val="-0.0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Industry vs Avg Revenue (M)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Revenue (M)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BB0-4667-860A-5163A1C00B5B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BB0-4667-860A-5163A1C00B5B}"/>
              </c:ext>
            </c:extLst>
          </c:dPt>
          <c:dPt>
            <c:idx val="2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BB0-4667-860A-5163A1C00B5B}"/>
              </c:ext>
            </c:extLst>
          </c:dPt>
          <c:dPt>
            <c:idx val="3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BB0-4667-860A-5163A1C00B5B}"/>
              </c:ext>
            </c:extLst>
          </c:dPt>
          <c:dPt>
            <c:idx val="4"/>
            <c:invertIfNegative val="0"/>
            <c:bubble3D val="0"/>
            <c:spPr>
              <a:solidFill>
                <a:srgbClr val="0D1B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BB0-4667-860A-5163A1C00B5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Technology</c:v>
                </c:pt>
                <c:pt idx="1">
                  <c:v>Healthcare</c:v>
                </c:pt>
                <c:pt idx="2">
                  <c:v>Finance</c:v>
                </c:pt>
                <c:pt idx="3">
                  <c:v>Retail</c:v>
                </c:pt>
                <c:pt idx="4">
                  <c:v>Manufacturing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553.29999999999995</c:v>
                </c:pt>
                <c:pt idx="1">
                  <c:v>551.6</c:v>
                </c:pt>
                <c:pt idx="2">
                  <c:v>549.1</c:v>
                </c:pt>
                <c:pt idx="3">
                  <c:v>548.70000000000005</c:v>
                </c:pt>
                <c:pt idx="4">
                  <c:v>546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BB0-4667-860A-5163A1C00B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54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Industry vs Avg Profit Margin %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Profit Margin %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Healthcare</c:v>
                </c:pt>
                <c:pt idx="1">
                  <c:v>Finance</c:v>
                </c:pt>
                <c:pt idx="2">
                  <c:v>Technology</c:v>
                </c:pt>
                <c:pt idx="3">
                  <c:v>Manufacturing</c:v>
                </c:pt>
                <c:pt idx="4">
                  <c:v>Retail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50.5</c:v>
                </c:pt>
                <c:pt idx="1">
                  <c:v>50.3</c:v>
                </c:pt>
                <c:pt idx="2">
                  <c:v>49.8</c:v>
                </c:pt>
                <c:pt idx="3">
                  <c:v>49.8</c:v>
                </c:pt>
                <c:pt idx="4">
                  <c:v>49.6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BD-4562-AD70-064CE93C7A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48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Region vs Avg Market Rating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Market Rating</c:v>
                </c:pt>
              </c:strCache>
            </c:strRef>
          </c:tx>
          <c:spPr>
            <a:solidFill>
              <a:srgbClr val="0D1B4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North America</c:v>
                </c:pt>
                <c:pt idx="1">
                  <c:v>Asia</c:v>
                </c:pt>
                <c:pt idx="2">
                  <c:v>Europe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2.5099999999999998</c:v>
                </c:pt>
                <c:pt idx="1">
                  <c:v>2.5099999999999998</c:v>
                </c:pt>
                <c:pt idx="2">
                  <c:v>2.52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C0-416A-8CE6-BEA36107D7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6"/>
          <c:min val="2.4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Industry vs Avg Employee Count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Employee Count</c:v>
                </c:pt>
              </c:strCache>
            </c:strRef>
          </c:tx>
          <c:spPr>
            <a:solidFill>
              <a:srgbClr val="5EEAD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Manufacturing</c:v>
                </c:pt>
                <c:pt idx="1">
                  <c:v>Healthcare</c:v>
                </c:pt>
                <c:pt idx="2">
                  <c:v>Finance</c:v>
                </c:pt>
                <c:pt idx="3">
                  <c:v>Technology</c:v>
                </c:pt>
                <c:pt idx="4">
                  <c:v>Retail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2612</c:v>
                </c:pt>
                <c:pt idx="1">
                  <c:v>2608</c:v>
                </c:pt>
                <c:pt idx="2">
                  <c:v>2607</c:v>
                </c:pt>
                <c:pt idx="3">
                  <c:v>2604</c:v>
                </c:pt>
                <c:pt idx="4">
                  <c:v>2602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BF-4BA1-91E7-AA9D477C8A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2580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187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8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457200"/>
            <a:ext cx="2560320" cy="256032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365760"/>
            <a:ext cx="1463040" cy="1463040"/>
          </a:xfrm>
          <a:prstGeom prst="ellipse">
            <a:avLst/>
          </a:prstGeom>
          <a:solidFill>
            <a:srgbClr val="5EEAD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960120"/>
            <a:ext cx="21945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NextHikes IT Solutions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30428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Industry Performance Dataset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6576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154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Dhiraj Sharma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r>
              <a:rPr lang="en-US" sz="1300" b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794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records  ×  12 columns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3931920" cy="67665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51560"/>
            <a:ext cx="457200" cy="6766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96112" y="11064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1399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data types, null check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3931920" cy="67665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47088"/>
            <a:ext cx="457200" cy="6766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847088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6112" y="1901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21945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skewness, kurtosis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642616"/>
            <a:ext cx="3931920" cy="67665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642616"/>
            <a:ext cx="457200" cy="6766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64261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6112" y="2697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" y="29900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method, Z-score, boxplots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438144"/>
            <a:ext cx="3931920" cy="67665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438144"/>
            <a:ext cx="457200" cy="6766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43814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6112" y="34930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6112" y="378561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&amp; group comparisons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051560"/>
            <a:ext cx="3931920" cy="67665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051560"/>
            <a:ext cx="457200" cy="6766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105156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93792" y="11064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93792" y="1399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variable relationships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1847088"/>
            <a:ext cx="3931920" cy="67665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1847088"/>
            <a:ext cx="457200" cy="6766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1847088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93792" y="1901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Analysis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93792" y="21945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industry insights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642616"/>
            <a:ext cx="3931920" cy="67665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642616"/>
            <a:ext cx="457200" cy="6766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264261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193792" y="2697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93792" y="29900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Business-relevant conclusions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600200" cy="1097280"/>
          </a:xfrm>
          <a:prstGeom prst="rect">
            <a:avLst/>
          </a:prstGeom>
          <a:solidFill>
            <a:srgbClr val="0D1B4B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48256" y="1143000"/>
            <a:ext cx="1600200" cy="1097280"/>
          </a:xfrm>
          <a:prstGeom prst="rect">
            <a:avLst/>
          </a:prstGeom>
          <a:solidFill>
            <a:srgbClr val="0D1B4B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48256" y="11887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48256" y="17830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22192" y="1143000"/>
            <a:ext cx="1600200" cy="1097280"/>
          </a:xfrm>
          <a:prstGeom prst="rect">
            <a:avLst/>
          </a:prstGeom>
          <a:solidFill>
            <a:srgbClr val="0D1B4B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22192" y="11887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22192" y="17830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96128" y="1143000"/>
            <a:ext cx="1600200" cy="1097280"/>
          </a:xfrm>
          <a:prstGeom prst="rect">
            <a:avLst/>
          </a:prstGeom>
          <a:solidFill>
            <a:srgbClr val="0D1B4B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96128" y="11887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96128" y="17830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70064" y="1143000"/>
            <a:ext cx="1600200" cy="1097280"/>
          </a:xfrm>
          <a:prstGeom prst="rect">
            <a:avLst/>
          </a:prstGeom>
          <a:solidFill>
            <a:srgbClr val="0D1B4B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70064" y="11887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70064" y="17830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395728"/>
          <a:ext cx="8412480" cy="25603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company identifier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company_name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of the company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/ Tech / Retail / Healthcare / Mfg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/ USA / Germany / Canada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employee_count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number of employees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annual_revenue_million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revenue in USD million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profit_margin_percent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margin as percentage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founded_year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the company was founded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customers served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market_rating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rating (0–5 scale)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creation 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America / Asia / Europe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38404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Kurtosis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employee_count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-1.188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annual_revenue_million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549.7M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543.9M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288.2M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$50.2M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$1.05B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-1.187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profit_margin_percent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founded_year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-1.190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50,449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50,727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28,745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100,495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-1.195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market_rating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variables exhibit near-zero skewness — uniform distribution. Negative kurtosis indicates flatter-than-normal distributions across the dataset.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Variables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05840"/>
          <a:ext cx="39319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389120" y="1005840"/>
          <a:ext cx="2286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2"/>
          <p:cNvGraphicFramePr/>
          <p:nvPr/>
        </p:nvGraphicFramePr>
        <p:xfrm>
          <a:off x="6858000" y="1005840"/>
          <a:ext cx="20116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Shape 3"/>
          <p:cNvSpPr/>
          <p:nvPr/>
        </p:nvSpPr>
        <p:spPr>
          <a:xfrm>
            <a:off x="274320" y="3456432"/>
            <a:ext cx="8595360" cy="1572768"/>
          </a:xfrm>
          <a:prstGeom prst="rect">
            <a:avLst/>
          </a:prstGeom>
          <a:solidFill>
            <a:srgbClr val="EFF6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4"/>
          <p:cNvSpPr/>
          <p:nvPr/>
        </p:nvSpPr>
        <p:spPr>
          <a:xfrm>
            <a:off x="45720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57200" y="3858768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57200" y="3858768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industries are perfectly balanced — 3,000 companies each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 dominates with 50% of total records (7,500)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countries equally distributed: India, USA, Germany, Canada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regions: North America (50%), Asia (25%), Europe (25%)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+ Z-Score Methods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74320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515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426464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identification of values beyond whiskers (1.5×IQR from Q1/Q3)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7432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51560"/>
            <a:ext cx="274320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0515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0128" y="1426464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values &lt; Q1–1.5×IQR  or  &gt; Q3+1.5×IQR as outliers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7432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51560"/>
            <a:ext cx="274320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0515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1426464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values beyond ±3 standard deviations from the mean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40280"/>
          <a:ext cx="8595360" cy="23317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Bound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Bound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 (IQR)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 (|Z|&gt;3)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employee_count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–1,311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annual_revenue_million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797.6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497.7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–446.7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1,544.2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profit_margin_percent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–50.0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25,676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75,271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49,595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–48,616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149,564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market_rating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–2.7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 outliers detected — dataset is uniformly distributed. All observed extreme values represent genuine large-scale enterprises and are retained.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vs Numerical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05840"/>
          <a:ext cx="53035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200400" cy="658368"/>
          </a:xfrm>
          <a:prstGeom prst="rect">
            <a:avLst/>
          </a:prstGeom>
          <a:solidFill>
            <a:srgbClr val="F0F9F8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70448" y="106070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× Revenue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70448" y="132588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–0.002  |  Near-zero — no linear relationship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60720" y="1755648"/>
            <a:ext cx="3200400" cy="658368"/>
          </a:xfrm>
          <a:prstGeom prst="rect">
            <a:avLst/>
          </a:prstGeom>
          <a:solidFill>
            <a:srgbClr val="F0F9F8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70448" y="181051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× Revenue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70448" y="207568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–0.012  |  Near-zero — uniform distribution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2505456"/>
            <a:ext cx="3200400" cy="658368"/>
          </a:xfrm>
          <a:prstGeom prst="rect">
            <a:avLst/>
          </a:prstGeom>
          <a:solidFill>
            <a:srgbClr val="F0F9F8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870448" y="256032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× Margin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70448" y="282549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–0.006  |  No significant correlation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0" y="3255264"/>
            <a:ext cx="3200400" cy="658368"/>
          </a:xfrm>
          <a:prstGeom prst="rect">
            <a:avLst/>
          </a:prstGeom>
          <a:solidFill>
            <a:srgbClr val="F0F9F8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870448" y="331012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Yr × Revenue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70448" y="357530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+0.021  |  Very weak; age ≠ revenue growth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74320" y="404164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Near-zero correlations are expected in a synthetically balanced dataset. Real-world datasets typically show stronger patterns.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vs Numerical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05840"/>
          <a:ext cx="41148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754880" y="1005840"/>
          <a:ext cx="41148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2"/>
          <p:cNvGraphicFramePr/>
          <p:nvPr/>
        </p:nvGraphicFramePr>
        <p:xfrm>
          <a:off x="274320" y="3246120"/>
          <a:ext cx="41148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8" name="Chart 3"/>
          <p:cNvGraphicFramePr/>
          <p:nvPr/>
        </p:nvGraphicFramePr>
        <p:xfrm>
          <a:off x="4754880" y="3246120"/>
          <a:ext cx="41148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Analysis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320040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8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81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count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revenue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margin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founded year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count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rating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count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DF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revenue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margin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founded year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DF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count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rating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407408"/>
            <a:ext cx="365760" cy="201168"/>
          </a:xfrm>
          <a:prstGeom prst="rect">
            <a:avLst/>
          </a:prstGeom>
          <a:solidFill>
            <a:srgbClr val="B2DFDB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44074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|r| &gt; 0.015  (moderate)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383280" y="4407408"/>
            <a:ext cx="365760" cy="201168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8" name="Text 5"/>
          <p:cNvSpPr/>
          <p:nvPr/>
        </p:nvSpPr>
        <p:spPr>
          <a:xfrm>
            <a:off x="3794760" y="44074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|r| 0.005–0.015  (weak)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309360" y="4407408"/>
            <a:ext cx="365760" cy="20116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" name="Text 7"/>
          <p:cNvSpPr/>
          <p:nvPr/>
        </p:nvSpPr>
        <p:spPr>
          <a:xfrm>
            <a:off x="6720840" y="440740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Self-correlation = 1.000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Near-zero correlations across all pairs — no multicollinearity. Dataset is synthetically balanced.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1155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Industry × Employee × Revenue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581912"/>
            <a:ext cx="38953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industries show consistent employee &amp; revenue distributions. Technology firms maintain a slight edge in average revenue ($553M vs overall $549M).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51560"/>
            <a:ext cx="4114800" cy="4572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0" name="Text 8"/>
          <p:cNvSpPr/>
          <p:nvPr/>
        </p:nvSpPr>
        <p:spPr>
          <a:xfrm>
            <a:off x="4773168" y="11155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Region × Market Rating × Profit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73168" y="1581912"/>
            <a:ext cx="38953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show near-identical averages — North America (2.51), Asia (2.51), Europe (2.52). Uniform distribution confirms no region dominates profitability.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0632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063240"/>
            <a:ext cx="41148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31272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Country × Customer Count × Revenue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3593592"/>
            <a:ext cx="38953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countries hold ~3,750 companies with equal distributions. Revenue and customer count are uniformly spread — no single country dominates.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30632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063240"/>
            <a:ext cx="4114800" cy="4572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8" name="Text 16"/>
          <p:cNvSpPr/>
          <p:nvPr/>
        </p:nvSpPr>
        <p:spPr>
          <a:xfrm>
            <a:off x="4773168" y="31272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Industry × Founded Year × Revenue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73168" y="3593592"/>
            <a:ext cx="38953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across founding years show no revenue advantage from age. Newer Technology firms perform comparably to older Manufacturing firms.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60520" cy="1143000"/>
          </a:xfrm>
          <a:prstGeom prst="rect">
            <a:avLst/>
          </a:prstGeom>
          <a:solidFill>
            <a:srgbClr val="F0F9F8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73152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6128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1430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Distribution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490472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$549.7M | Range $50.2M–$1.05B | Near-symmetric (skew = 0.027)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160520" cy="1143000"/>
          </a:xfrm>
          <a:prstGeom prst="rect">
            <a:avLst/>
          </a:prstGeom>
          <a:solidFill>
            <a:srgbClr val="F0F9F8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51560"/>
            <a:ext cx="73152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16128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94960" y="11430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1490472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2,607 employees | Min 100 | Max 5,099 across all industries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350008"/>
            <a:ext cx="4160520" cy="1143000"/>
          </a:xfrm>
          <a:prstGeom prst="rect">
            <a:avLst/>
          </a:prstGeom>
          <a:solidFill>
            <a:srgbClr val="F0F9F8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50008"/>
            <a:ext cx="73152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459736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244144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Balance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7889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industries × 3,000 companies each — perfectly balanced dataset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350008"/>
            <a:ext cx="4160520" cy="1143000"/>
          </a:xfrm>
          <a:prstGeom prst="rect">
            <a:avLst/>
          </a:prstGeom>
          <a:solidFill>
            <a:srgbClr val="F0F9F8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350008"/>
            <a:ext cx="73152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459736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94960" y="244144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Spread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7889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countries, 3 regions | North America = 50% of total records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648456"/>
            <a:ext cx="4160520" cy="1143000"/>
          </a:xfrm>
          <a:prstGeom prst="rect">
            <a:avLst/>
          </a:prstGeom>
          <a:solidFill>
            <a:srgbClr val="F0F9F8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48456"/>
            <a:ext cx="73152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758184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0120" y="3739896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4087368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across all numeric pairs — no multicollinearity detected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648456"/>
            <a:ext cx="4160520" cy="1143000"/>
          </a:xfrm>
          <a:prstGeom prst="rect">
            <a:avLst/>
          </a:prstGeom>
          <a:solidFill>
            <a:srgbClr val="F0F9F8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648456"/>
            <a:ext cx="73152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758184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94960" y="3739896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4087368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kurtosis across all variables — flat, uniform distributions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5EEAD4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2004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Applied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Univariate Statistical Analysis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933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Bivariate Relationship Analysis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43230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Multivariate Interaction Study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Pearson Correlation &amp; Heatmap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3101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Outlier Detection (IQR + Z-score)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Skewness &amp; Kurtosis Measurement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1430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5544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Business Intelligence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9933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Market Trend Analysis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43230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Industry Benchmarking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87121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Revenue Forecasting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3101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Strategic Decision-Making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31596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Libraries: NumPy  |  Pandas  |  Matplotlib  |  Seaborn  |  SciPy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8280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Dhiraj Sharma  |  NextHikes IT Solutions  |  5th June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1035</Words>
  <Application>Microsoft Office PowerPoint</Application>
  <PresentationFormat>On-screen Show (16:9)</PresentationFormat>
  <Paragraphs>331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Industry Performance Dataset</dc:title>
  <dc:subject>PptxGenJS Presentation</dc:subject>
  <dc:creator>Dhiraj Sharma</dc:creator>
  <cp:lastModifiedBy>Dhiraj Sharma</cp:lastModifiedBy>
  <cp:revision>2</cp:revision>
  <dcterms:created xsi:type="dcterms:W3CDTF">2026-06-04T22:52:19Z</dcterms:created>
  <dcterms:modified xsi:type="dcterms:W3CDTF">2026-06-06T23:47:30Z</dcterms:modified>
</cp:coreProperties>
</file>